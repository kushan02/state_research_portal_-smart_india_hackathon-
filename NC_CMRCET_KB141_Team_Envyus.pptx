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aleway"/>
      <p:regular r:id="rId24"/>
      <p:bold r:id="rId25"/>
      <p:italic r:id="rId26"/>
      <p:boldItalic r:id="rId27"/>
    </p:embeddedFon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aleway-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Lato-regular.fntdata"/><Relationship Id="rId27" Type="http://schemas.openxmlformats.org/officeDocument/2006/relationships/font" Target="fonts/Raleway-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7c2cd77810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7c2cd77810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7c2cd7781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7c2cd7781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6d606615ff_1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6d606615ff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6d606615ff_4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6d606615ff_4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7c2cd77810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7c2cd77810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8eee86158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8eee86158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7c2cd7781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7c2cd7781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7c2cd77810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7c2cd77810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6d606615ff_2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6d606615ff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6d606615ff_2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6d606615ff_2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6d606615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6d606615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8eee86158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8eee86158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7c2cd77810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7c2cd77810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6d606615ff_1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6d606615ff_1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6d606615ff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6d606615ff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8eee86158b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8eee86158b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7c2cd77810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7c2cd77810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jpg"/><Relationship Id="rId5"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9.jpg"/><Relationship Id="rId5" Type="http://schemas.openxmlformats.org/officeDocument/2006/relationships/image" Target="../media/image8.jpg"/><Relationship Id="rId6" Type="http://schemas.openxmlformats.org/officeDocument/2006/relationships/image" Target="../media/image5.jpg"/><Relationship Id="rId7"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1057500" y="1992700"/>
            <a:ext cx="7029000" cy="175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700">
                <a:latin typeface="Lato"/>
                <a:ea typeface="Lato"/>
                <a:cs typeface="Lato"/>
                <a:sym typeface="Lato"/>
              </a:rPr>
              <a:t>KB141 - </a:t>
            </a:r>
            <a:r>
              <a:rPr lang="en" sz="3700">
                <a:latin typeface="Lato"/>
                <a:ea typeface="Lato"/>
                <a:cs typeface="Lato"/>
                <a:sym typeface="Lato"/>
              </a:rPr>
              <a:t>Research Portal</a:t>
            </a:r>
            <a:endParaRPr sz="3700">
              <a:latin typeface="Lato"/>
              <a:ea typeface="Lato"/>
              <a:cs typeface="Lato"/>
              <a:sym typeface="Lato"/>
            </a:endParaRPr>
          </a:p>
        </p:txBody>
      </p:sp>
      <p:sp>
        <p:nvSpPr>
          <p:cNvPr id="87" name="Google Shape;87;p13"/>
          <p:cNvSpPr txBox="1"/>
          <p:nvPr>
            <p:ph idx="1" type="subTitle"/>
          </p:nvPr>
        </p:nvSpPr>
        <p:spPr>
          <a:xfrm>
            <a:off x="4472225" y="2906850"/>
            <a:ext cx="4595400" cy="191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Prepared by-     </a:t>
            </a:r>
            <a:r>
              <a:rPr b="1" lang="en">
                <a:solidFill>
                  <a:srgbClr val="000000"/>
                </a:solidFill>
              </a:rPr>
              <a:t>Team Envyus :-</a:t>
            </a:r>
            <a:endParaRPr b="1">
              <a:solidFill>
                <a:srgbClr val="000000"/>
              </a:solidFill>
            </a:endParaRPr>
          </a:p>
          <a:p>
            <a:pPr indent="0" lvl="0" marL="1371600" rtl="0" algn="l">
              <a:spcBef>
                <a:spcPts val="0"/>
              </a:spcBef>
              <a:spcAft>
                <a:spcPts val="0"/>
              </a:spcAft>
              <a:buNone/>
            </a:pPr>
            <a:r>
              <a:rPr lang="en">
                <a:solidFill>
                  <a:srgbClr val="000000"/>
                </a:solidFill>
              </a:rPr>
              <a:t>Kushan Mehta (Team Leader)</a:t>
            </a:r>
            <a:endParaRPr>
              <a:solidFill>
                <a:srgbClr val="000000"/>
              </a:solidFill>
            </a:endParaRPr>
          </a:p>
          <a:p>
            <a:pPr indent="0" lvl="0" marL="1371600" rtl="0" algn="l">
              <a:spcBef>
                <a:spcPts val="0"/>
              </a:spcBef>
              <a:spcAft>
                <a:spcPts val="0"/>
              </a:spcAft>
              <a:buNone/>
            </a:pPr>
            <a:r>
              <a:rPr lang="en">
                <a:solidFill>
                  <a:srgbClr val="000000"/>
                </a:solidFill>
              </a:rPr>
              <a:t>Mitanshu Bhatt</a:t>
            </a:r>
            <a:endParaRPr>
              <a:solidFill>
                <a:srgbClr val="000000"/>
              </a:solidFill>
            </a:endParaRPr>
          </a:p>
          <a:p>
            <a:pPr indent="0" lvl="0" marL="1371600" rtl="0" algn="l">
              <a:spcBef>
                <a:spcPts val="0"/>
              </a:spcBef>
              <a:spcAft>
                <a:spcPts val="0"/>
              </a:spcAft>
              <a:buNone/>
            </a:pPr>
            <a:r>
              <a:rPr lang="en">
                <a:solidFill>
                  <a:srgbClr val="000000"/>
                </a:solidFill>
              </a:rPr>
              <a:t>Nitasha Gupta</a:t>
            </a:r>
            <a:endParaRPr>
              <a:solidFill>
                <a:srgbClr val="000000"/>
              </a:solidFill>
            </a:endParaRPr>
          </a:p>
          <a:p>
            <a:pPr indent="0" lvl="0" marL="1371600" rtl="0" algn="l">
              <a:spcBef>
                <a:spcPts val="0"/>
              </a:spcBef>
              <a:spcAft>
                <a:spcPts val="0"/>
              </a:spcAft>
              <a:buNone/>
            </a:pPr>
            <a:r>
              <a:rPr lang="en">
                <a:solidFill>
                  <a:srgbClr val="000000"/>
                </a:solidFill>
              </a:rPr>
              <a:t>Jay Mistry</a:t>
            </a:r>
            <a:endParaRPr>
              <a:solidFill>
                <a:srgbClr val="000000"/>
              </a:solidFill>
            </a:endParaRPr>
          </a:p>
          <a:p>
            <a:pPr indent="0" lvl="0" marL="1371600" rtl="0" algn="l">
              <a:spcBef>
                <a:spcPts val="0"/>
              </a:spcBef>
              <a:spcAft>
                <a:spcPts val="0"/>
              </a:spcAft>
              <a:buNone/>
            </a:pPr>
            <a:r>
              <a:rPr lang="en">
                <a:solidFill>
                  <a:srgbClr val="000000"/>
                </a:solidFill>
              </a:rPr>
              <a:t>Fenil Kaneria</a:t>
            </a:r>
            <a:endParaRPr>
              <a:solidFill>
                <a:srgbClr val="000000"/>
              </a:solidFill>
            </a:endParaRPr>
          </a:p>
          <a:p>
            <a:pPr indent="0" lvl="0" marL="1371600" rtl="0" algn="l">
              <a:spcBef>
                <a:spcPts val="0"/>
              </a:spcBef>
              <a:spcAft>
                <a:spcPts val="0"/>
              </a:spcAft>
              <a:buNone/>
            </a:pPr>
            <a:r>
              <a:rPr lang="en">
                <a:solidFill>
                  <a:srgbClr val="000000"/>
                </a:solidFill>
              </a:rPr>
              <a:t>Megha Sankhlecha</a:t>
            </a:r>
            <a:endParaRPr>
              <a:solidFill>
                <a:srgbClr val="000000"/>
              </a:solidFill>
            </a:endParaRPr>
          </a:p>
          <a:p>
            <a:pPr indent="0" lvl="0" marL="0" rtl="0" algn="ctr">
              <a:spcBef>
                <a:spcPts val="0"/>
              </a:spcBef>
              <a:spcAft>
                <a:spcPts val="0"/>
              </a:spcAft>
              <a:buNone/>
            </a:pPr>
            <a:r>
              <a:t/>
            </a:r>
            <a:endParaRPr>
              <a:solidFill>
                <a:srgbClr val="000000"/>
              </a:solidFill>
            </a:endParaRPr>
          </a:p>
        </p:txBody>
      </p:sp>
      <p:pic>
        <p:nvPicPr>
          <p:cNvPr id="88" name="Google Shape;88;p13"/>
          <p:cNvPicPr preferRelativeResize="0"/>
          <p:nvPr/>
        </p:nvPicPr>
        <p:blipFill>
          <a:blip r:embed="rId3">
            <a:alphaModFix/>
          </a:blip>
          <a:stretch>
            <a:fillRect/>
          </a:stretch>
        </p:blipFill>
        <p:spPr>
          <a:xfrm>
            <a:off x="247638" y="4262775"/>
            <a:ext cx="2478469" cy="392400"/>
          </a:xfrm>
          <a:prstGeom prst="rect">
            <a:avLst/>
          </a:prstGeom>
          <a:noFill/>
          <a:ln>
            <a:noFill/>
          </a:ln>
        </p:spPr>
      </p:pic>
      <p:pic>
        <p:nvPicPr>
          <p:cNvPr id="89" name="Google Shape;89;p13"/>
          <p:cNvPicPr preferRelativeResize="0"/>
          <p:nvPr/>
        </p:nvPicPr>
        <p:blipFill>
          <a:blip r:embed="rId4">
            <a:alphaModFix/>
          </a:blip>
          <a:stretch>
            <a:fillRect/>
          </a:stretch>
        </p:blipFill>
        <p:spPr>
          <a:xfrm>
            <a:off x="1130167" y="3371829"/>
            <a:ext cx="809961" cy="795599"/>
          </a:xfrm>
          <a:prstGeom prst="rect">
            <a:avLst/>
          </a:prstGeom>
          <a:noFill/>
          <a:ln>
            <a:noFill/>
          </a:ln>
        </p:spPr>
      </p:pic>
      <p:pic>
        <p:nvPicPr>
          <p:cNvPr id="90" name="Google Shape;90;p13"/>
          <p:cNvPicPr preferRelativeResize="0"/>
          <p:nvPr/>
        </p:nvPicPr>
        <p:blipFill rotWithShape="1">
          <a:blip r:embed="rId5">
            <a:alphaModFix/>
          </a:blip>
          <a:srcRect b="0" l="25973" r="30960" t="0"/>
          <a:stretch/>
        </p:blipFill>
        <p:spPr>
          <a:xfrm>
            <a:off x="405100" y="545723"/>
            <a:ext cx="1161776" cy="1293763"/>
          </a:xfrm>
          <a:prstGeom prst="rect">
            <a:avLst/>
          </a:prstGeom>
          <a:noFill/>
          <a:ln>
            <a:noFill/>
          </a:ln>
        </p:spPr>
      </p:pic>
      <p:sp>
        <p:nvSpPr>
          <p:cNvPr id="91" name="Google Shape;91;p13"/>
          <p:cNvSpPr txBox="1"/>
          <p:nvPr/>
        </p:nvSpPr>
        <p:spPr>
          <a:xfrm>
            <a:off x="1566875" y="468125"/>
            <a:ext cx="7388100" cy="79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300">
                <a:latin typeface="Raleway"/>
                <a:ea typeface="Raleway"/>
                <a:cs typeface="Raleway"/>
                <a:sym typeface="Raleway"/>
              </a:rPr>
              <a:t>SMART INDIA HACKATHON 2020</a:t>
            </a:r>
            <a:endParaRPr b="1" sz="4300">
              <a:latin typeface="Raleway"/>
              <a:ea typeface="Raleway"/>
              <a:cs typeface="Raleway"/>
              <a:sym typeface="Ralew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Statement</a:t>
            </a:r>
            <a:endParaRPr/>
          </a:p>
        </p:txBody>
      </p:sp>
      <p:sp>
        <p:nvSpPr>
          <p:cNvPr id="97" name="Google Shape;97;p1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latin typeface="Arial"/>
                <a:ea typeface="Arial"/>
                <a:cs typeface="Arial"/>
                <a:sym typeface="Arial"/>
              </a:rPr>
              <a:t>Design State Research Portal, a single point securely hosted solution to seamlessly integrate search and manage all the research activities.</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Description</a:t>
            </a:r>
            <a:endParaRPr/>
          </a:p>
        </p:txBody>
      </p:sp>
      <p:sp>
        <p:nvSpPr>
          <p:cNvPr id="103" name="Google Shape;103;p15"/>
          <p:cNvSpPr txBox="1"/>
          <p:nvPr>
            <p:ph idx="1" type="body"/>
          </p:nvPr>
        </p:nvSpPr>
        <p:spPr>
          <a:xfrm>
            <a:off x="729450" y="2078875"/>
            <a:ext cx="7688700" cy="292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000000"/>
                </a:solidFill>
                <a:highlight>
                  <a:srgbClr val="FFFFFF"/>
                </a:highlight>
                <a:latin typeface="Arial"/>
                <a:ea typeface="Arial"/>
                <a:cs typeface="Arial"/>
                <a:sym typeface="Arial"/>
              </a:rPr>
              <a:t>The act of research sets the course for the development of any product or service. Without comprehensive research, all stages that follow in research activities could be greatly affected and time consuming. In this context, a single State research portal is needed to be designed in a manner that it can serve as a one-stop solution pertaining to one’s research needs.</a:t>
            </a:r>
            <a:br>
              <a:rPr lang="en" sz="1400">
                <a:solidFill>
                  <a:srgbClr val="000000"/>
                </a:solidFill>
                <a:highlight>
                  <a:srgbClr val="FFFFFF"/>
                </a:highlight>
                <a:latin typeface="Arial"/>
                <a:ea typeface="Arial"/>
                <a:cs typeface="Arial"/>
                <a:sym typeface="Arial"/>
              </a:rPr>
            </a:br>
            <a:r>
              <a:rPr lang="en" sz="1400">
                <a:solidFill>
                  <a:srgbClr val="000000"/>
                </a:solidFill>
                <a:highlight>
                  <a:srgbClr val="FFFFFF"/>
                </a:highlight>
                <a:latin typeface="Arial"/>
                <a:ea typeface="Arial"/>
                <a:cs typeface="Arial"/>
                <a:sym typeface="Arial"/>
              </a:rPr>
              <a:t>Few of the areas to be incorporated are as given below: </a:t>
            </a:r>
            <a:endParaRPr sz="1400">
              <a:solidFill>
                <a:srgbClr val="000000"/>
              </a:solidFill>
              <a:highlight>
                <a:srgbClr val="FFFFFF"/>
              </a:highlight>
              <a:latin typeface="Arial"/>
              <a:ea typeface="Arial"/>
              <a:cs typeface="Arial"/>
              <a:sym typeface="Arial"/>
            </a:endParaRPr>
          </a:p>
          <a:p>
            <a:pPr indent="0" lvl="0" marL="0" rtl="0" algn="l">
              <a:spcBef>
                <a:spcPts val="1600"/>
              </a:spcBef>
              <a:spcAft>
                <a:spcPts val="0"/>
              </a:spcAft>
              <a:buNone/>
            </a:pPr>
            <a:r>
              <a:rPr lang="en" sz="1400">
                <a:solidFill>
                  <a:srgbClr val="000000"/>
                </a:solidFill>
                <a:highlight>
                  <a:srgbClr val="FFFFFF"/>
                </a:highlight>
                <a:latin typeface="Arial"/>
                <a:ea typeface="Arial"/>
                <a:cs typeface="Arial"/>
                <a:sym typeface="Arial"/>
              </a:rPr>
              <a:t>1. Great User Experience</a:t>
            </a:r>
            <a:endParaRPr sz="1400">
              <a:solidFill>
                <a:srgbClr val="000000"/>
              </a:solidFill>
              <a:highlight>
                <a:srgbClr val="FFFFFF"/>
              </a:highlight>
              <a:latin typeface="Arial"/>
              <a:ea typeface="Arial"/>
              <a:cs typeface="Arial"/>
              <a:sym typeface="Arial"/>
            </a:endParaRPr>
          </a:p>
          <a:p>
            <a:pPr indent="0" lvl="0" marL="0" rtl="0" algn="l">
              <a:spcBef>
                <a:spcPts val="1600"/>
              </a:spcBef>
              <a:spcAft>
                <a:spcPts val="0"/>
              </a:spcAft>
              <a:buNone/>
            </a:pPr>
            <a:r>
              <a:rPr lang="en" sz="1400">
                <a:solidFill>
                  <a:srgbClr val="000000"/>
                </a:solidFill>
                <a:highlight>
                  <a:srgbClr val="FFFFFF"/>
                </a:highlight>
                <a:latin typeface="Arial"/>
                <a:ea typeface="Arial"/>
                <a:cs typeface="Arial"/>
                <a:sym typeface="Arial"/>
              </a:rPr>
              <a:t>2</a:t>
            </a:r>
            <a:r>
              <a:rPr lang="en" sz="1400">
                <a:solidFill>
                  <a:srgbClr val="000000"/>
                </a:solidFill>
                <a:highlight>
                  <a:srgbClr val="FFFFFF"/>
                </a:highlight>
                <a:latin typeface="Arial"/>
                <a:ea typeface="Arial"/>
                <a:cs typeface="Arial"/>
                <a:sym typeface="Arial"/>
              </a:rPr>
              <a:t>.</a:t>
            </a:r>
            <a:r>
              <a:rPr lang="en" sz="1400">
                <a:solidFill>
                  <a:srgbClr val="000000"/>
                </a:solidFill>
                <a:highlight>
                  <a:srgbClr val="FFFFFF"/>
                </a:highlight>
                <a:latin typeface="Arial"/>
                <a:ea typeface="Arial"/>
                <a:cs typeface="Arial"/>
                <a:sym typeface="Arial"/>
              </a:rPr>
              <a:t> Discovery engine for access to information</a:t>
            </a:r>
            <a:endParaRPr sz="1400">
              <a:solidFill>
                <a:srgbClr val="000000"/>
              </a:solidFill>
              <a:highlight>
                <a:srgbClr val="FFFFFF"/>
              </a:highlight>
              <a:latin typeface="Arial"/>
              <a:ea typeface="Arial"/>
              <a:cs typeface="Arial"/>
              <a:sym typeface="Arial"/>
            </a:endParaRPr>
          </a:p>
          <a:p>
            <a:pPr indent="0" lvl="0" marL="0" rtl="0" algn="l">
              <a:spcBef>
                <a:spcPts val="1600"/>
              </a:spcBef>
              <a:spcAft>
                <a:spcPts val="1600"/>
              </a:spcAft>
              <a:buNone/>
            </a:pPr>
            <a:r>
              <a:rPr lang="en" sz="1400">
                <a:solidFill>
                  <a:srgbClr val="000000"/>
                </a:solidFill>
                <a:highlight>
                  <a:srgbClr val="FFFFFF"/>
                </a:highlight>
                <a:latin typeface="Arial"/>
                <a:ea typeface="Arial"/>
                <a:cs typeface="Arial"/>
                <a:sym typeface="Arial"/>
              </a:rPr>
              <a:t>3. Uploading Research &amp; Authentication</a:t>
            </a:r>
            <a:endParaRPr sz="14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16"/>
          <p:cNvPicPr preferRelativeResize="0"/>
          <p:nvPr/>
        </p:nvPicPr>
        <p:blipFill>
          <a:blip r:embed="rId3">
            <a:alphaModFix/>
          </a:blip>
          <a:stretch>
            <a:fillRect/>
          </a:stretch>
        </p:blipFill>
        <p:spPr>
          <a:xfrm>
            <a:off x="116475" y="349175"/>
            <a:ext cx="8911025" cy="4650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17"/>
          <p:cNvPicPr preferRelativeResize="0"/>
          <p:nvPr/>
        </p:nvPicPr>
        <p:blipFill>
          <a:blip r:embed="rId3">
            <a:alphaModFix/>
          </a:blip>
          <a:stretch>
            <a:fillRect/>
          </a:stretch>
        </p:blipFill>
        <p:spPr>
          <a:xfrm>
            <a:off x="134300" y="671475"/>
            <a:ext cx="8890324" cy="4319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727800" y="512875"/>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Screenshots (Interview)</a:t>
            </a:r>
            <a:endParaRPr/>
          </a:p>
        </p:txBody>
      </p:sp>
      <p:pic>
        <p:nvPicPr>
          <p:cNvPr id="119" name="Google Shape;119;p18"/>
          <p:cNvPicPr preferRelativeResize="0"/>
          <p:nvPr/>
        </p:nvPicPr>
        <p:blipFill>
          <a:blip r:embed="rId3">
            <a:alphaModFix/>
          </a:blip>
          <a:stretch>
            <a:fillRect/>
          </a:stretch>
        </p:blipFill>
        <p:spPr>
          <a:xfrm>
            <a:off x="6224450" y="3155925"/>
            <a:ext cx="2919550" cy="1998300"/>
          </a:xfrm>
          <a:prstGeom prst="rect">
            <a:avLst/>
          </a:prstGeom>
          <a:noFill/>
          <a:ln>
            <a:noFill/>
          </a:ln>
        </p:spPr>
      </p:pic>
      <p:pic>
        <p:nvPicPr>
          <p:cNvPr id="120" name="Google Shape;120;p18"/>
          <p:cNvPicPr preferRelativeResize="0"/>
          <p:nvPr/>
        </p:nvPicPr>
        <p:blipFill>
          <a:blip r:embed="rId4">
            <a:alphaModFix/>
          </a:blip>
          <a:stretch>
            <a:fillRect/>
          </a:stretch>
        </p:blipFill>
        <p:spPr>
          <a:xfrm>
            <a:off x="0" y="989350"/>
            <a:ext cx="4848050" cy="2148150"/>
          </a:xfrm>
          <a:prstGeom prst="rect">
            <a:avLst/>
          </a:prstGeom>
          <a:noFill/>
          <a:ln>
            <a:noFill/>
          </a:ln>
        </p:spPr>
      </p:pic>
      <p:pic>
        <p:nvPicPr>
          <p:cNvPr id="121" name="Google Shape;121;p18"/>
          <p:cNvPicPr preferRelativeResize="0"/>
          <p:nvPr/>
        </p:nvPicPr>
        <p:blipFill>
          <a:blip r:embed="rId5">
            <a:alphaModFix/>
          </a:blip>
          <a:stretch>
            <a:fillRect/>
          </a:stretch>
        </p:blipFill>
        <p:spPr>
          <a:xfrm>
            <a:off x="3059550" y="3088775"/>
            <a:ext cx="3164901" cy="2065450"/>
          </a:xfrm>
          <a:prstGeom prst="rect">
            <a:avLst/>
          </a:prstGeom>
          <a:noFill/>
          <a:ln>
            <a:noFill/>
          </a:ln>
        </p:spPr>
      </p:pic>
      <p:pic>
        <p:nvPicPr>
          <p:cNvPr id="122" name="Google Shape;122;p18"/>
          <p:cNvPicPr preferRelativeResize="0"/>
          <p:nvPr/>
        </p:nvPicPr>
        <p:blipFill>
          <a:blip r:embed="rId6">
            <a:alphaModFix/>
          </a:blip>
          <a:stretch>
            <a:fillRect/>
          </a:stretch>
        </p:blipFill>
        <p:spPr>
          <a:xfrm>
            <a:off x="4848050" y="989350"/>
            <a:ext cx="4295950" cy="2185001"/>
          </a:xfrm>
          <a:prstGeom prst="rect">
            <a:avLst/>
          </a:prstGeom>
          <a:noFill/>
          <a:ln>
            <a:noFill/>
          </a:ln>
        </p:spPr>
      </p:pic>
      <p:pic>
        <p:nvPicPr>
          <p:cNvPr id="123" name="Google Shape;123;p18"/>
          <p:cNvPicPr preferRelativeResize="0"/>
          <p:nvPr/>
        </p:nvPicPr>
        <p:blipFill>
          <a:blip r:embed="rId7">
            <a:alphaModFix/>
          </a:blip>
          <a:stretch>
            <a:fillRect/>
          </a:stretch>
        </p:blipFill>
        <p:spPr>
          <a:xfrm>
            <a:off x="0" y="3131775"/>
            <a:ext cx="3059551" cy="2065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729450" y="1188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Consolidated List of Requirements</a:t>
            </a:r>
            <a:endParaRPr/>
          </a:p>
        </p:txBody>
      </p:sp>
      <p:sp>
        <p:nvSpPr>
          <p:cNvPr id="129" name="Google Shape;129;p19"/>
          <p:cNvSpPr txBox="1"/>
          <p:nvPr>
            <p:ph idx="1" type="body"/>
          </p:nvPr>
        </p:nvSpPr>
        <p:spPr>
          <a:xfrm>
            <a:off x="729450" y="1724175"/>
            <a:ext cx="7688700" cy="32829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One stop portal to explore all available research papers of concerned topic</a:t>
            </a:r>
            <a:endParaRPr sz="1400">
              <a:solidFill>
                <a:srgbClr val="000000"/>
              </a:solidFill>
              <a:latin typeface="Arial"/>
              <a:ea typeface="Arial"/>
              <a:cs typeface="Arial"/>
              <a:sym typeface="Arial"/>
            </a:endParaRPr>
          </a:p>
          <a:p>
            <a:pPr indent="-317500" lvl="0" marL="457200" rtl="0" algn="just">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Good user-experience platform for easy and clutter-free navigation.</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Mobile free with add-to-watchlist feature</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Fast searching</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Have less but valid filters for searching</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Upload mechanism should be less burdening</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Should provide brief about each research paper before opening</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Should have one click authentication mechanism</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Should be secured</a:t>
            </a:r>
            <a:endParaRPr sz="1400">
              <a:solidFill>
                <a:srgbClr val="000000"/>
              </a:solidFill>
              <a:latin typeface="Arial"/>
              <a:ea typeface="Arial"/>
              <a:cs typeface="Arial"/>
              <a:sym typeface="Arial"/>
            </a:endParaRPr>
          </a:p>
          <a:p>
            <a:pPr indent="0" lvl="0" marL="0" rtl="0" algn="l">
              <a:lnSpc>
                <a:spcPct val="150000"/>
              </a:lnSpc>
              <a:spcBef>
                <a:spcPts val="1600"/>
              </a:spcBef>
              <a:spcAft>
                <a:spcPts val="1600"/>
              </a:spcAft>
              <a:buNone/>
            </a:pPr>
            <a:r>
              <a:t/>
            </a:r>
            <a:endParaRPr sz="14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Proposed Solution</a:t>
            </a:r>
            <a:endParaRPr/>
          </a:p>
        </p:txBody>
      </p:sp>
      <p:sp>
        <p:nvSpPr>
          <p:cNvPr id="135" name="Google Shape;135;p20"/>
          <p:cNvSpPr txBox="1"/>
          <p:nvPr>
            <p:ph idx="1" type="body"/>
          </p:nvPr>
        </p:nvSpPr>
        <p:spPr>
          <a:xfrm>
            <a:off x="729450" y="2078875"/>
            <a:ext cx="7688700" cy="28362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Develop a modern web application built on top of best user experience (UX) practices also optimized for mobile, to help ease the process for navigation to desired information</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Provide services such as uploading research where a user would be able to create their profile and add details pertaining to their research background, also allowing categorization university/college and department/areas of study wise</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A discovery service will be integrated into the portal which considers various approaches on how the metadata can be best used around searching and retrieving search results. </a:t>
            </a:r>
            <a:endParaRPr sz="1400">
              <a:solidFill>
                <a:srgbClr val="000000"/>
              </a:solidFill>
              <a:latin typeface="Arial"/>
              <a:ea typeface="Arial"/>
              <a:cs typeface="Arial"/>
              <a:sym typeface="Arial"/>
            </a:endParaRPr>
          </a:p>
          <a:p>
            <a:pPr indent="0" lvl="0" marL="457200" rtl="0" algn="l">
              <a:lnSpc>
                <a:spcPct val="150000"/>
              </a:lnSpc>
              <a:spcBef>
                <a:spcPts val="1600"/>
              </a:spcBef>
              <a:spcAft>
                <a:spcPts val="0"/>
              </a:spcAft>
              <a:buNone/>
            </a:pPr>
            <a:r>
              <a:t/>
            </a:r>
            <a:endParaRPr>
              <a:solidFill>
                <a:srgbClr val="000000"/>
              </a:solidFill>
              <a:latin typeface="Arial"/>
              <a:ea typeface="Arial"/>
              <a:cs typeface="Arial"/>
              <a:sym typeface="Arial"/>
            </a:endParaRPr>
          </a:p>
          <a:p>
            <a:pPr indent="0" lvl="0" marL="457200" rtl="0" algn="l">
              <a:lnSpc>
                <a:spcPct val="150000"/>
              </a:lnSpc>
              <a:spcBef>
                <a:spcPts val="1600"/>
              </a:spcBef>
              <a:spcAft>
                <a:spcPts val="1600"/>
              </a:spcAft>
              <a:buNone/>
            </a:pPr>
            <a:r>
              <a:t/>
            </a:r>
            <a:endParaRPr b="1">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Continue..</a:t>
            </a:r>
            <a:endParaRPr/>
          </a:p>
        </p:txBody>
      </p:sp>
      <p:sp>
        <p:nvSpPr>
          <p:cNvPr id="141" name="Google Shape;141;p21"/>
          <p:cNvSpPr txBox="1"/>
          <p:nvPr>
            <p:ph idx="1" type="body"/>
          </p:nvPr>
        </p:nvSpPr>
        <p:spPr>
          <a:xfrm>
            <a:off x="727650" y="1853850"/>
            <a:ext cx="7688700" cy="30096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Seamless and intuitive integration of various other research platform services is to be done for the purpose of developing the discovery tool so as to fetch and provide access to data from standard sources such as </a:t>
            </a:r>
            <a:r>
              <a:rPr b="1" lang="en" sz="1400">
                <a:solidFill>
                  <a:srgbClr val="000000"/>
                </a:solidFill>
                <a:latin typeface="Arial"/>
                <a:ea typeface="Arial"/>
                <a:cs typeface="Arial"/>
                <a:sym typeface="Arial"/>
              </a:rPr>
              <a:t>IEEE, Elsevier, Springer, ACM </a:t>
            </a:r>
            <a:r>
              <a:rPr lang="en" sz="1400">
                <a:solidFill>
                  <a:srgbClr val="000000"/>
                </a:solidFill>
                <a:latin typeface="Arial"/>
                <a:ea typeface="Arial"/>
                <a:cs typeface="Arial"/>
                <a:sym typeface="Arial"/>
              </a:rPr>
              <a:t>and other journals</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Robust search &amp; discovery engine developed specifically for the purpose, incorporating various NLP techniques for the improvement of precision &amp; accuracy of the search results procured. </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Rich filters such as filtering by year of publication, type, affiliation, author etc. which would help to zero-down on the perfect reference for the user’s research needs.</a:t>
            </a:r>
            <a:endParaRPr sz="140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2"/>
          <p:cNvPicPr preferRelativeResize="0"/>
          <p:nvPr/>
        </p:nvPicPr>
        <p:blipFill rotWithShape="1">
          <a:blip r:embed="rId3">
            <a:alphaModFix/>
          </a:blip>
          <a:srcRect b="1696" l="0" r="7723" t="1357"/>
          <a:stretch/>
        </p:blipFill>
        <p:spPr>
          <a:xfrm>
            <a:off x="2822000" y="0"/>
            <a:ext cx="6321999" cy="5143500"/>
          </a:xfrm>
          <a:prstGeom prst="rect">
            <a:avLst/>
          </a:prstGeom>
          <a:noFill/>
          <a:ln>
            <a:noFill/>
          </a:ln>
        </p:spPr>
      </p:pic>
      <p:sp>
        <p:nvSpPr>
          <p:cNvPr id="147" name="Google Shape;147;p22"/>
          <p:cNvSpPr txBox="1"/>
          <p:nvPr/>
        </p:nvSpPr>
        <p:spPr>
          <a:xfrm>
            <a:off x="719100" y="2307100"/>
            <a:ext cx="2287200" cy="9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FLOWCHART</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3"/>
          <p:cNvPicPr preferRelativeResize="0"/>
          <p:nvPr/>
        </p:nvPicPr>
        <p:blipFill rotWithShape="1">
          <a:blip r:embed="rId3">
            <a:alphaModFix/>
          </a:blip>
          <a:srcRect b="2904" l="1670" r="2332" t="2469"/>
          <a:stretch/>
        </p:blipFill>
        <p:spPr>
          <a:xfrm>
            <a:off x="2996225" y="0"/>
            <a:ext cx="6147775" cy="5143501"/>
          </a:xfrm>
          <a:prstGeom prst="rect">
            <a:avLst/>
          </a:prstGeom>
          <a:noFill/>
          <a:ln>
            <a:noFill/>
          </a:ln>
        </p:spPr>
      </p:pic>
      <p:sp>
        <p:nvSpPr>
          <p:cNvPr id="153" name="Google Shape;153;p23"/>
          <p:cNvSpPr txBox="1"/>
          <p:nvPr/>
        </p:nvSpPr>
        <p:spPr>
          <a:xfrm>
            <a:off x="729075" y="2157300"/>
            <a:ext cx="2397000" cy="8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USE CASE DIAGRAM</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729450" y="1188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Technology</a:t>
            </a:r>
            <a:r>
              <a:rPr lang="en"/>
              <a:t> Stack</a:t>
            </a:r>
            <a:endParaRPr/>
          </a:p>
        </p:txBody>
      </p:sp>
      <p:sp>
        <p:nvSpPr>
          <p:cNvPr id="159" name="Google Shape;159;p24"/>
          <p:cNvSpPr txBox="1"/>
          <p:nvPr>
            <p:ph idx="1" type="body"/>
          </p:nvPr>
        </p:nvSpPr>
        <p:spPr>
          <a:xfrm>
            <a:off x="729450" y="1724175"/>
            <a:ext cx="7688700" cy="32829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ElasticSearch (Built on top of Apache Lucene Engine)</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Scalable Model built around search &amp; discovery</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Natural Language Processing (NLP)</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Flask Microframework</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ReactJS</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MySQL</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Python</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Microservices driven architecture</a:t>
            </a:r>
            <a:endParaRPr sz="140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Hardware/Software Requirements</a:t>
            </a:r>
            <a:endParaRPr/>
          </a:p>
        </p:txBody>
      </p:sp>
      <p:sp>
        <p:nvSpPr>
          <p:cNvPr id="165" name="Google Shape;165;p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Any platform with access to browser including mobile devices</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729450" y="1188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 done</a:t>
            </a:r>
            <a:endParaRPr/>
          </a:p>
        </p:txBody>
      </p:sp>
      <p:sp>
        <p:nvSpPr>
          <p:cNvPr id="171" name="Google Shape;171;p26"/>
          <p:cNvSpPr txBox="1"/>
          <p:nvPr>
            <p:ph idx="1" type="body"/>
          </p:nvPr>
        </p:nvSpPr>
        <p:spPr>
          <a:xfrm>
            <a:off x="729450" y="1724175"/>
            <a:ext cx="7688700" cy="32829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rgbClr val="000000"/>
              </a:buClr>
              <a:buSzPts val="1200"/>
              <a:buFont typeface="Arial"/>
              <a:buAutoNum type="arabicPeriod"/>
            </a:pPr>
            <a:r>
              <a:rPr lang="en" sz="1200">
                <a:solidFill>
                  <a:srgbClr val="000000"/>
                </a:solidFill>
                <a:latin typeface="Arial"/>
                <a:ea typeface="Arial"/>
                <a:cs typeface="Arial"/>
                <a:sym typeface="Arial"/>
              </a:rPr>
              <a:t>Analysis &amp; Requirement Gathering</a:t>
            </a:r>
            <a:endParaRPr sz="1200">
              <a:solidFill>
                <a:srgbClr val="000000"/>
              </a:solidFill>
              <a:latin typeface="Arial"/>
              <a:ea typeface="Arial"/>
              <a:cs typeface="Arial"/>
              <a:sym typeface="Arial"/>
            </a:endParaRPr>
          </a:p>
          <a:p>
            <a:pPr indent="-304800" lvl="1" marL="914400" rtl="0" algn="l">
              <a:lnSpc>
                <a:spcPct val="150000"/>
              </a:lnSpc>
              <a:spcBef>
                <a:spcPts val="0"/>
              </a:spcBef>
              <a:spcAft>
                <a:spcPts val="0"/>
              </a:spcAft>
              <a:buClr>
                <a:srgbClr val="000000"/>
              </a:buClr>
              <a:buSzPts val="1200"/>
              <a:buFont typeface="Arial"/>
              <a:buAutoNum type="alphaLcPeriod"/>
            </a:pPr>
            <a:r>
              <a:rPr lang="en" sz="1200">
                <a:solidFill>
                  <a:srgbClr val="000000"/>
                </a:solidFill>
                <a:latin typeface="Arial"/>
                <a:ea typeface="Arial"/>
                <a:cs typeface="Arial"/>
                <a:sym typeface="Arial"/>
              </a:rPr>
              <a:t>Interviews</a:t>
            </a:r>
            <a:endParaRPr sz="1200">
              <a:solidFill>
                <a:srgbClr val="000000"/>
              </a:solidFill>
              <a:latin typeface="Arial"/>
              <a:ea typeface="Arial"/>
              <a:cs typeface="Arial"/>
              <a:sym typeface="Arial"/>
            </a:endParaRPr>
          </a:p>
          <a:p>
            <a:pPr indent="-304800" lvl="1" marL="914400" rtl="0" algn="l">
              <a:lnSpc>
                <a:spcPct val="150000"/>
              </a:lnSpc>
              <a:spcBef>
                <a:spcPts val="0"/>
              </a:spcBef>
              <a:spcAft>
                <a:spcPts val="0"/>
              </a:spcAft>
              <a:buClr>
                <a:srgbClr val="000000"/>
              </a:buClr>
              <a:buSzPts val="1200"/>
              <a:buFont typeface="Arial"/>
              <a:buAutoNum type="alphaLcPeriod"/>
            </a:pPr>
            <a:r>
              <a:rPr lang="en" sz="1200">
                <a:solidFill>
                  <a:srgbClr val="000000"/>
                </a:solidFill>
                <a:latin typeface="Arial"/>
                <a:ea typeface="Arial"/>
                <a:cs typeface="Arial"/>
                <a:sym typeface="Arial"/>
              </a:rPr>
              <a:t>Surveying (Existing portals)</a:t>
            </a:r>
            <a:endParaRPr sz="1200">
              <a:solidFill>
                <a:srgbClr val="000000"/>
              </a:solidFill>
              <a:latin typeface="Arial"/>
              <a:ea typeface="Arial"/>
              <a:cs typeface="Arial"/>
              <a:sym typeface="Arial"/>
            </a:endParaRPr>
          </a:p>
          <a:p>
            <a:pPr indent="-304800" lvl="1" marL="914400" rtl="0" algn="l">
              <a:lnSpc>
                <a:spcPct val="150000"/>
              </a:lnSpc>
              <a:spcBef>
                <a:spcPts val="0"/>
              </a:spcBef>
              <a:spcAft>
                <a:spcPts val="0"/>
              </a:spcAft>
              <a:buClr>
                <a:srgbClr val="000000"/>
              </a:buClr>
              <a:buSzPts val="1200"/>
              <a:buFont typeface="Arial"/>
              <a:buAutoNum type="alphaLcPeriod"/>
            </a:pPr>
            <a:r>
              <a:rPr lang="en" sz="1200">
                <a:solidFill>
                  <a:srgbClr val="000000"/>
                </a:solidFill>
                <a:latin typeface="Arial"/>
                <a:ea typeface="Arial"/>
                <a:cs typeface="Arial"/>
                <a:sym typeface="Arial"/>
              </a:rPr>
              <a:t>Brainstorming</a:t>
            </a:r>
            <a:endParaRPr sz="1200">
              <a:solidFill>
                <a:srgbClr val="000000"/>
              </a:solidFill>
              <a:latin typeface="Arial"/>
              <a:ea typeface="Arial"/>
              <a:cs typeface="Arial"/>
              <a:sym typeface="Arial"/>
            </a:endParaRPr>
          </a:p>
          <a:p>
            <a:pPr indent="-304800" lvl="0" marL="457200" rtl="0" algn="l">
              <a:lnSpc>
                <a:spcPct val="150000"/>
              </a:lnSpc>
              <a:spcBef>
                <a:spcPts val="0"/>
              </a:spcBef>
              <a:spcAft>
                <a:spcPts val="0"/>
              </a:spcAft>
              <a:buClr>
                <a:srgbClr val="000000"/>
              </a:buClr>
              <a:buSzPts val="1200"/>
              <a:buFont typeface="Arial"/>
              <a:buAutoNum type="arabicPeriod"/>
            </a:pPr>
            <a:r>
              <a:rPr lang="en" sz="1200">
                <a:solidFill>
                  <a:srgbClr val="000000"/>
                </a:solidFill>
                <a:latin typeface="Arial"/>
                <a:ea typeface="Arial"/>
                <a:cs typeface="Arial"/>
                <a:sym typeface="Arial"/>
              </a:rPr>
              <a:t>Technical work</a:t>
            </a:r>
            <a:endParaRPr sz="1200">
              <a:solidFill>
                <a:srgbClr val="000000"/>
              </a:solidFill>
              <a:latin typeface="Arial"/>
              <a:ea typeface="Arial"/>
              <a:cs typeface="Arial"/>
              <a:sym typeface="Arial"/>
            </a:endParaRPr>
          </a:p>
          <a:p>
            <a:pPr indent="-304800" lvl="1" marL="914400" rtl="0" algn="l">
              <a:lnSpc>
                <a:spcPct val="150000"/>
              </a:lnSpc>
              <a:spcBef>
                <a:spcPts val="0"/>
              </a:spcBef>
              <a:spcAft>
                <a:spcPts val="0"/>
              </a:spcAft>
              <a:buClr>
                <a:srgbClr val="000000"/>
              </a:buClr>
              <a:buSzPts val="1200"/>
              <a:buFont typeface="Arial"/>
              <a:buAutoNum type="alphaLcPeriod"/>
            </a:pPr>
            <a:r>
              <a:rPr lang="en" sz="1200">
                <a:solidFill>
                  <a:srgbClr val="000000"/>
                </a:solidFill>
                <a:latin typeface="Arial"/>
                <a:ea typeface="Arial"/>
                <a:cs typeface="Arial"/>
                <a:sym typeface="Arial"/>
              </a:rPr>
              <a:t>System Architecture design</a:t>
            </a:r>
            <a:endParaRPr sz="1200">
              <a:solidFill>
                <a:srgbClr val="000000"/>
              </a:solidFill>
              <a:latin typeface="Arial"/>
              <a:ea typeface="Arial"/>
              <a:cs typeface="Arial"/>
              <a:sym typeface="Arial"/>
            </a:endParaRPr>
          </a:p>
          <a:p>
            <a:pPr indent="-304800" lvl="1" marL="914400" rtl="0" algn="l">
              <a:lnSpc>
                <a:spcPct val="150000"/>
              </a:lnSpc>
              <a:spcBef>
                <a:spcPts val="0"/>
              </a:spcBef>
              <a:spcAft>
                <a:spcPts val="0"/>
              </a:spcAft>
              <a:buClr>
                <a:srgbClr val="000000"/>
              </a:buClr>
              <a:buSzPts val="1200"/>
              <a:buFont typeface="Arial"/>
              <a:buAutoNum type="alphaLcPeriod"/>
            </a:pPr>
            <a:r>
              <a:rPr lang="en" sz="1200">
                <a:solidFill>
                  <a:srgbClr val="000000"/>
                </a:solidFill>
                <a:latin typeface="Arial"/>
                <a:ea typeface="Arial"/>
                <a:cs typeface="Arial"/>
                <a:sym typeface="Arial"/>
              </a:rPr>
              <a:t>User Experience design</a:t>
            </a:r>
            <a:endParaRPr sz="1200">
              <a:solidFill>
                <a:srgbClr val="000000"/>
              </a:solidFill>
              <a:latin typeface="Arial"/>
              <a:ea typeface="Arial"/>
              <a:cs typeface="Arial"/>
              <a:sym typeface="Arial"/>
            </a:endParaRPr>
          </a:p>
          <a:p>
            <a:pPr indent="-304800" lvl="1" marL="914400" rtl="0" algn="l">
              <a:lnSpc>
                <a:spcPct val="150000"/>
              </a:lnSpc>
              <a:spcBef>
                <a:spcPts val="0"/>
              </a:spcBef>
              <a:spcAft>
                <a:spcPts val="0"/>
              </a:spcAft>
              <a:buClr>
                <a:srgbClr val="000000"/>
              </a:buClr>
              <a:buSzPts val="1200"/>
              <a:buFont typeface="Arial"/>
              <a:buAutoNum type="alphaLcPeriod"/>
            </a:pPr>
            <a:r>
              <a:rPr lang="en" sz="1200">
                <a:solidFill>
                  <a:srgbClr val="000000"/>
                </a:solidFill>
                <a:latin typeface="Arial"/>
                <a:ea typeface="Arial"/>
                <a:cs typeface="Arial"/>
                <a:sym typeface="Arial"/>
              </a:rPr>
              <a:t>API implementation of various journals</a:t>
            </a:r>
            <a:endParaRPr sz="1200">
              <a:solidFill>
                <a:srgbClr val="000000"/>
              </a:solidFill>
              <a:latin typeface="Arial"/>
              <a:ea typeface="Arial"/>
              <a:cs typeface="Arial"/>
              <a:sym typeface="Arial"/>
            </a:endParaRPr>
          </a:p>
          <a:p>
            <a:pPr indent="-304800" lvl="1" marL="914400" rtl="0" algn="l">
              <a:lnSpc>
                <a:spcPct val="150000"/>
              </a:lnSpc>
              <a:spcBef>
                <a:spcPts val="0"/>
              </a:spcBef>
              <a:spcAft>
                <a:spcPts val="0"/>
              </a:spcAft>
              <a:buClr>
                <a:srgbClr val="000000"/>
              </a:buClr>
              <a:buSzPts val="1200"/>
              <a:buFont typeface="Arial"/>
              <a:buAutoNum type="alphaLcPeriod"/>
            </a:pPr>
            <a:r>
              <a:rPr lang="en" sz="1200">
                <a:solidFill>
                  <a:srgbClr val="000000"/>
                </a:solidFill>
                <a:latin typeface="Arial"/>
                <a:ea typeface="Arial"/>
                <a:cs typeface="Arial"/>
                <a:sym typeface="Arial"/>
              </a:rPr>
              <a:t>~180 Million (179372373) Research C</a:t>
            </a:r>
            <a:r>
              <a:rPr lang="en" sz="1200">
                <a:solidFill>
                  <a:srgbClr val="000000"/>
                </a:solidFill>
                <a:latin typeface="Arial"/>
                <a:ea typeface="Arial"/>
                <a:cs typeface="Arial"/>
                <a:sym typeface="Arial"/>
              </a:rPr>
              <a:t>orpus</a:t>
            </a:r>
            <a:r>
              <a:rPr lang="en" sz="1200">
                <a:solidFill>
                  <a:srgbClr val="000000"/>
                </a:solidFill>
                <a:latin typeface="Arial"/>
                <a:ea typeface="Arial"/>
                <a:cs typeface="Arial"/>
                <a:sym typeface="Arial"/>
              </a:rPr>
              <a:t> mined and being processed</a:t>
            </a:r>
            <a:endParaRPr sz="1200">
              <a:solidFill>
                <a:srgbClr val="000000"/>
              </a:solidFill>
              <a:latin typeface="Arial"/>
              <a:ea typeface="Arial"/>
              <a:cs typeface="Arial"/>
              <a:sym typeface="Arial"/>
            </a:endParaRPr>
          </a:p>
          <a:p>
            <a:pPr indent="-304800" lvl="1" marL="914400" rtl="0" algn="l">
              <a:lnSpc>
                <a:spcPct val="150000"/>
              </a:lnSpc>
              <a:spcBef>
                <a:spcPts val="0"/>
              </a:spcBef>
              <a:spcAft>
                <a:spcPts val="0"/>
              </a:spcAft>
              <a:buClr>
                <a:srgbClr val="000000"/>
              </a:buClr>
              <a:buSzPts val="1200"/>
              <a:buFont typeface="Arial"/>
              <a:buAutoNum type="alphaLcPeriod"/>
            </a:pPr>
            <a:r>
              <a:rPr lang="en" sz="1200">
                <a:solidFill>
                  <a:srgbClr val="000000"/>
                </a:solidFill>
                <a:latin typeface="Arial"/>
                <a:ea typeface="Arial"/>
                <a:cs typeface="Arial"/>
                <a:sym typeface="Arial"/>
              </a:rPr>
              <a:t>Real-time Search &amp; Discovery Engine built upon ElasticSearch (Lucene Engine)</a:t>
            </a:r>
            <a:endParaRPr sz="120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188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 in Progress</a:t>
            </a:r>
            <a:endParaRPr/>
          </a:p>
        </p:txBody>
      </p:sp>
      <p:sp>
        <p:nvSpPr>
          <p:cNvPr id="177" name="Google Shape;177;p27"/>
          <p:cNvSpPr txBox="1"/>
          <p:nvPr>
            <p:ph idx="1" type="body"/>
          </p:nvPr>
        </p:nvSpPr>
        <p:spPr>
          <a:xfrm>
            <a:off x="729450" y="1724175"/>
            <a:ext cx="7688700" cy="32829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Apply advanced NLP techniques to improve the search results and ranking algorithm by </a:t>
            </a:r>
            <a:r>
              <a:rPr lang="en" sz="1400">
                <a:solidFill>
                  <a:srgbClr val="000000"/>
                </a:solidFill>
                <a:latin typeface="Arial"/>
                <a:ea typeface="Arial"/>
                <a:cs typeface="Arial"/>
                <a:sym typeface="Arial"/>
              </a:rPr>
              <a:t>weighted modelling</a:t>
            </a:r>
            <a:r>
              <a:rPr lang="en" sz="1400">
                <a:solidFill>
                  <a:srgbClr val="000000"/>
                </a:solidFill>
                <a:latin typeface="Arial"/>
                <a:ea typeface="Arial"/>
                <a:cs typeface="Arial"/>
                <a:sym typeface="Arial"/>
              </a:rPr>
              <a:t> techniques</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Microservices implementation for layered </a:t>
            </a:r>
            <a:r>
              <a:rPr lang="en" sz="1400">
                <a:solidFill>
                  <a:srgbClr val="000000"/>
                </a:solidFill>
                <a:latin typeface="Arial"/>
                <a:ea typeface="Arial"/>
                <a:cs typeface="Arial"/>
                <a:sym typeface="Arial"/>
              </a:rPr>
              <a:t>architectural</a:t>
            </a:r>
            <a:r>
              <a:rPr lang="en" sz="1400">
                <a:solidFill>
                  <a:srgbClr val="000000"/>
                </a:solidFill>
                <a:latin typeface="Arial"/>
                <a:ea typeface="Arial"/>
                <a:cs typeface="Arial"/>
                <a:sym typeface="Arial"/>
              </a:rPr>
              <a:t> approach</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UI enhancements</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Scale the model</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Seamless official platform(s) integration</a:t>
            </a:r>
            <a:endParaRPr sz="1400">
              <a:solidFill>
                <a:srgbClr val="000000"/>
              </a:solidFill>
              <a:latin typeface="Arial"/>
              <a:ea typeface="Arial"/>
              <a:cs typeface="Arial"/>
              <a:sym typeface="Arial"/>
            </a:endParaRPr>
          </a:p>
          <a:p>
            <a:pPr indent="0" lvl="0" marL="0" rtl="0" algn="l">
              <a:lnSpc>
                <a:spcPct val="150000"/>
              </a:lnSpc>
              <a:spcBef>
                <a:spcPts val="1600"/>
              </a:spcBef>
              <a:spcAft>
                <a:spcPts val="1600"/>
              </a:spcAft>
              <a:buNone/>
            </a:pPr>
            <a:r>
              <a:t/>
            </a:r>
            <a:endParaRPr sz="1400">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188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 Distribution</a:t>
            </a:r>
            <a:endParaRPr/>
          </a:p>
        </p:txBody>
      </p:sp>
      <p:sp>
        <p:nvSpPr>
          <p:cNvPr id="183" name="Google Shape;183;p28"/>
          <p:cNvSpPr txBox="1"/>
          <p:nvPr>
            <p:ph idx="1" type="body"/>
          </p:nvPr>
        </p:nvSpPr>
        <p:spPr>
          <a:xfrm>
            <a:off x="729450" y="1724175"/>
            <a:ext cx="7688700" cy="32829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Kushan Mehta - System architecture &amp; Design, Search &amp; Discovery Engine</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Mitanshu Bhatt - Backend</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Nitasha Gupta - Backend and database design</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Fenil Kaneria - Frontend</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Jay Mistry - Frontend</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Megha Sankhlecha - Frontend &amp; Search &amp; Discovery Engine</a:t>
            </a:r>
            <a:endParaRPr sz="1400">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7800" y="2353400"/>
            <a:ext cx="7688400" cy="53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Implementation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type="title"/>
          </p:nvPr>
        </p:nvSpPr>
        <p:spPr>
          <a:xfrm>
            <a:off x="781225" y="2388775"/>
            <a:ext cx="7688400" cy="53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800"/>
              <a:t>Thank You</a:t>
            </a:r>
            <a:endParaRPr sz="4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